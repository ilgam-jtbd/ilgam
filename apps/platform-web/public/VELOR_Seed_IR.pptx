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월수익</c:v>
                </c:pt>
              </c:strCache>
            </c:strRef>
          </c:tx>
          <c:spPr>
            <a:solidFill>
              <a:srgbClr val="1B2A55"/>
            </a:solidFill>
            <a:ln w="38100" cap="flat">
              <a:solidFill>
                <a:srgbClr val="1B2A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2A55"/>
              </a:solidFill>
              <a:ln w="9525" cap="flat">
                <a:solidFill>
                  <a:srgbClr val="1B2A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M3</c:v>
                  </c:pt>
                  <c:pt idx="1">
                    <c:v>M5</c:v>
                  </c:pt>
                  <c:pt idx="2">
                    <c:v>M7</c:v>
                  </c:pt>
                  <c:pt idx="3">
                    <c:v>M9</c:v>
                  </c:pt>
                  <c:pt idx="4">
                    <c:v>M11</c:v>
                  </c:pt>
                  <c:pt idx="5">
                    <c:v>M14</c:v>
                  </c:pt>
                  <c:pt idx="6">
                    <c:v>M18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-18</c:v>
                </c:pt>
                <c:pt idx="1">
                  <c:v>5</c:v>
                </c:pt>
                <c:pt idx="2">
                  <c:v>22</c:v>
                </c:pt>
                <c:pt idx="3">
                  <c:v>48</c:v>
                </c:pt>
                <c:pt idx="4">
                  <c:v>72</c:v>
                </c:pt>
                <c:pt idx="5">
                  <c:v>108</c:v>
                </c:pt>
                <c:pt idx="6">
                  <c:v>144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8499"/>
                </a:solidFill>
                <a:latin typeface="Noto Sans CJK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8499"/>
                </a:solidFill>
                <a:latin typeface="Noto Sans CJK K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[~0:50] 안녕하십니까, 벨로 공동창업자 김연재입니다. 저는 지난 20년간 건설 현장과 스타트업을 오가며 일했습니다. 현장에서 매번 본 장면은, 30년 경력의 공장장과 품질관리 임원이 정년과 함께 사라지고 그 전문성은 회사 어디에도 남지 않는다는 것이었습니다. 같은 시기 옆 스타트업은 '그 사람 딱 한 명만 30분 만나면 6개월을 아낄 텐데'라며 발을 굴렀습니다. 오늘 이야기는 그 단절을 메우는 사업입니다. 가장 저평가된 자산, 954만 명의 전문성을 시장의 자산으로 바꾸는 벨로입니다.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[~0:35] 문제는 세 겹입니다. 첫째, 전문성을 가진 사람과 그것이 급한 현장이 서로를 못 찾습니다. 둘째, 공공 노인일자리는 단순·반복 업무에 머물러 이 수요를 받지 못합니다. 셋째, 시니어는 앱 가입 첫 화면에서 이탈합니다. 저는 이 세 가지를 20년간 현장에서 직접 겪었습니다. 그래서 이건 추측이 아니라 구조입니다.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왜 지금이냐. 1971년 한 해에만 102만 명이 태어났습니다. 2023년 출생아의 네 배가 넘습니다. 이 세대가 지금 막 은퇴를 시작합니다. 케어링과 퀸잇은 이미 이 세대를 '소비자'로 검증했습니다. 우리는 같은 세대를 '공급자', 일하는 전문가로 연결합니다.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그리고 시간 싸움입니다. 공공 모델이 민간형으로 유형화되는 전환기, 검증 인프라가 비어 있는 공백, 인구 구조의 정점이 지금 겹칩니다. 경쟁자가 시니어 버티컬을 본격화하기 전, 약 6개월의 창문이 열려 있습니다. 이 창문을 누가 먼저 닫느냐가 승부입니다.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[~0:35] 벨로의 답은 세 단계입니다. 1단계 원포인, 20분 전문가 콜. 여기가 고마진 차별화 레이어입니다. 2단계 스팟워크, 현장 단기 인력에 시니어 리드를 얹는 거래 엔진. 3단계 스카웃, 신뢰가 쌓인 전문가의 정규 채용 전환. 한 번 들어온 전문가가 콜에서 채용까지 생애주기로 머뭅니다.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[~0:25] 시장은 이미 증명됐습니다. 케어링 1,658억, 퀸잇 1.5조, 일본 Timee는 FY25 매출 342억 엔으로 도쿄 증시에 상장했습니다. 스팟워크도, 시니어 시장도 따로따로는 검증이 끝났습니다. 비어 있는 건 그 교집합입니다.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그럼 왜 우리가 이기느냐. 기술입니다. AI 시맨틱 매칭, 음성을 구조화하는 STT와 지식그래프, 국세청과 산업기술보호법까지 막는 Compliance Shield, 사전 브리핑을 자동 생성하는 Expert-AI 에이전트. 이 엔진이 자문 운영 리소스를 최대 70% 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[~0:35] 여기서 진짜 해자가 나옵니다. GLG, Third Bridge 같은 글로벌 ENS는 '전문가 연결'에 멈춰 있습니다. 우리는 그 콜을 데이터로 바꿉니다. 매칭에서 지식 베이스로, 다시 산업 인텔리전스로. 'AI 에이전트 시장' 인터뷰가 1,000건 쌓이면, 다음 고객은 콜 전에 리포트를 먼저 삽니다. SaaS·데이터·ENS 세 수익이 동시에 돌고, 한번 쌓인 데이터는 누구도 못 따라옵니다.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[~0:35] 어디서 시작하느냐. 제 가장 강한 자산을 씁니다. VC와 TIPS 네트워크입니다. 그래서 비치헤드는 '반도체 등 딥테크 기술 검증'입니다. VC가 반도체 팹리스에 투자할 때 '이 공정 진짜 양산되나, 6개월 내 되나, 특허 장벽 있나'를 묻습니다. 우리는 전직 파운드리 임원을 30분 만에 붙여 답을 줍니다. 같은 전문가가 TIPS 평가위원으로도 섭니다. 여기서 신뢰를 쌓아 바이오, K-콘텐츠, 제조로 확장합니다.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돈은 두 갈래로 법니다. 스팟워크는 거래액의 18% 수수료, 전문가 콜은 선불 없는 종량제 과금. 워커 임금은 우리 수익과 분리됩니다. AI 운영으로 리소스를 70% 줄여, 전통 ENS의 15% 대비 영업이익률 42%를 목표합니다. 손익분기는 10에서 11개월차입니다.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[~0:25] 실제 화면입니다. 의뢰자가 '이 사출 라인, 양산 가능한가'를 자연어로 묻습니다. AI가 적합도 96%, 검증 배지를 가진 전직 임원을 찾아 20분 콜을 예약합니다. 신원·국세청 검증과 Compliance Shield가 켜진 채로요. 워커에겐 일과 정당한 보수가, 의뢰자에겐 검증된 답이 즉시 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[~0:20] 시장 규모입니다. TAM 5조 원 이상, 2026년 SAM 9,200억, 초기 타깃 SOM 1,200억. 우리는 SOM부터 정밀하게 가져옵니다.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경쟁 구도입니다. Timee는 단순 노동, 잡코리아·사람인은 정적 이력 DB. 둘 다 전문성 검증도, 생애주기 연결도, 공공 네트워크도 없습니다. 우리의 3중 방어선은 공공 MOU, 시니어용 SMS 온보딩, 전문가 5,000명 선점 락인입니다.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[~0:20] 진입 순서는 공급 우선입니다. 먼저 전문가를 선점해 CAC를 낮추고, 현장과 전문성으로 매칭 밀도를 높인 뒤, LTV와 ROAS 지표로 증명합니다.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숫자로 말씀드립니다. 5개월차 첫 흑자, 10에서 11개월차 손익분기, 18개월차 월수익 1.44억. 자금은 Pre-Seed 5억에서 시작해 TIPS와 Series A로 잇고, 출구는 2031에서 2033년 코스닥 IPO입니다.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[~0:40] 그래서, 왜 저인가. 저는 건설 현장과 스타트업을 20년간 오갔습니다. 이 사업에 필요한 세 가지 — 시니어 공급 풀에 대한 현장 감각, 자본을 끌어오는 VC·TIPS 네트워크, 직접 만드는 실행력 — 을 한 사람이 잇습니다. ESG와 세대 융합은 구호가 아니라 우리의 성장 지표입니다. 진입 조건도 명확합니다. 법인과 법무, CTO 합류, Pre-Seed 5억. 군더더기 없이 18개월 런웨이로 증명하겠습니다.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[~0:35] 요청드립니다. Seed 20억입니다. 이 자금으로 6개월 창문 안에 전문가 1만 명을 선점하고, 데이터 해자를 켜고, Series A 60억으로 잇습니다. 워커에겐 다시 일할 무대를, 기업과 VC에는 검증된 전문성을 가장 빠르고 가성비 있게. 954만 명의 전문성, 가장 먼저 거래하는 곳이 시장을 갖습니다. 함께해 주십시오.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[Q&amp;A 백업] SOM 산출 근거. 전문가 5,000명 × 월 4건 × 건당 9만 원 × 수수료 18% × 12개월 ≈ 연 39억. 버티컬 확장 시 300~500억 규모로 확대됩니다.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[Q&amp;A 백업] 재무 가정표. M5·M11·M18 시점의 활성 워커, 월 매칭, 월 GMV, 수수료 수익, 월 손익 가정입니다. 핵심 검증 변수 세 가지는 워커 리텐션, 매칭 성공률, 콜 단가입니다.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19A3D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777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600" kern="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6968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SENIOR EXPERT NETWORK · SPOT-WORK PLATFORM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" y="21488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저평가된 자산,</a:t>
            </a:r>
            <a:endParaRPr lang="en-US" sz="46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954만 명의 전문성.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68680" y="3977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노동을 연결한 Timee를 넘어, VELOR는 시니어 '전문성'을 거래한다.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검증된 은퇴 전문가를 AI로 즉시 매칭하는 5조원 시니어 스팟워크 시장을 선점한다.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5074920"/>
            <a:ext cx="2194560" cy="868680"/>
          </a:xfrm>
          <a:prstGeom prst="roundRect">
            <a:avLst>
              <a:gd name="adj" fmla="val 9474"/>
            </a:avLst>
          </a:prstGeom>
          <a:solidFill>
            <a:srgbClr val="2A3D6E"/>
          </a:solidFill>
          <a:ln w="12700">
            <a:solidFill>
              <a:srgbClr val="3A4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5212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8B9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" y="54681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5조원 +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83280" y="5074920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2A3D6E"/>
          </a:solidFill>
          <a:ln w="12700">
            <a:solidFill>
              <a:srgbClr val="3A4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521208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8B9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BENCHMARK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39312" y="546811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Timee · 케어링 · 퀸잇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949440" y="5074920"/>
            <a:ext cx="3154680" cy="868680"/>
          </a:xfrm>
          <a:prstGeom prst="roundRect">
            <a:avLst>
              <a:gd name="adj" fmla="val 9474"/>
            </a:avLst>
          </a:prstGeom>
          <a:solidFill>
            <a:srgbClr val="2A3D6E"/>
          </a:solidFill>
          <a:ln w="12700">
            <a:solidFill>
              <a:srgbClr val="3A4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05472" y="52120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8B9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05472" y="546811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954만 · 출생 1위 세대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99855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Seed Round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954만 명의 전문성이 시장에 닿지 못한다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2차 베이비부머(1964~1974년생)는 숙련과 의지를 갖췄지만, 이들을 현장 단기 수요·전문성 검증과 즉시 연결하는 인프라가 없다.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1143000"/>
          </a:xfrm>
          <a:prstGeom prst="rect">
            <a:avLst/>
          </a:prstGeom>
          <a:solidFill>
            <a:srgbClr val="F4F5F8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94560"/>
            <a:ext cx="73152" cy="1143000"/>
          </a:xfrm>
          <a:prstGeom prst="rect">
            <a:avLst/>
          </a:prstGeom>
          <a:solidFill>
            <a:srgbClr val="C19A3D"/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" y="2409444"/>
            <a:ext cx="713232" cy="713232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8" name="Image 0" descr="/home/claude/assets/un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012" y="2587752"/>
            <a:ext cx="356616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2395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수요 - 공급 단절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212080" y="2359152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현장은 즉시 인력과 검증된 전문성을 필요로 하고 시니어는 일할 의지가 있으나, 둘을 잇는 표준화된 매칭 채널이 부재하다.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529584"/>
            <a:ext cx="11064240" cy="1143000"/>
          </a:xfrm>
          <a:prstGeom prst="rect">
            <a:avLst/>
          </a:prstGeom>
          <a:solidFill>
            <a:srgbClr val="F4F5F8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3529584"/>
            <a:ext cx="73152" cy="1143000"/>
          </a:xfrm>
          <a:prstGeom prst="rect">
            <a:avLst/>
          </a:prstGeom>
          <a:solidFill>
            <a:srgbClr val="C19A3D"/>
          </a:solidFill>
          <a:ln/>
        </p:spPr>
      </p:sp>
      <p:sp>
        <p:nvSpPr>
          <p:cNvPr id="13" name="Shape 10"/>
          <p:cNvSpPr/>
          <p:nvPr/>
        </p:nvSpPr>
        <p:spPr>
          <a:xfrm>
            <a:off x="1060704" y="3744468"/>
            <a:ext cx="713232" cy="713232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4" name="Image 1" descr="/home/claude/asset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12" y="3922776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57400" y="3730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공공모델의 속도 한계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212080" y="3694176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 일자리 사업은 신청·배정에 수일이 걸려 당일·단기 현장 수요를 흡수하지 못한다.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4864608"/>
            <a:ext cx="11064240" cy="1143000"/>
          </a:xfrm>
          <a:prstGeom prst="rect">
            <a:avLst/>
          </a:prstGeom>
          <a:solidFill>
            <a:srgbClr val="F4F5F8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4864608"/>
            <a:ext cx="73152" cy="1143000"/>
          </a:xfrm>
          <a:prstGeom prst="rect">
            <a:avLst/>
          </a:prstGeom>
          <a:solidFill>
            <a:srgbClr val="C19A3D"/>
          </a:solidFill>
          <a:ln/>
        </p:spPr>
      </p:sp>
      <p:sp>
        <p:nvSpPr>
          <p:cNvPr id="19" name="Shape 15"/>
          <p:cNvSpPr/>
          <p:nvPr/>
        </p:nvSpPr>
        <p:spPr>
          <a:xfrm>
            <a:off x="1060704" y="5079492"/>
            <a:ext cx="713232" cy="713232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0" name="Image 2" descr="/home/claude/assets/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012" y="5257800"/>
            <a:ext cx="356616" cy="3566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057400" y="50657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디지털 온보딩 장벽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5212080" y="50292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플랫폼은 앱 가입·인증 절차가 복잡해 시니어 진입을 구조적으로 차단한다.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WHY NOW · 세대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사상 최대 세대가, 노동시장으로 돌아온다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1971년 102만 명이 태어났다. 2023년엔 23만 명. 그 거대한 세대가 지금 다시 일터로 나온다.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937760" cy="338328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2697480"/>
            <a:ext cx="1188720" cy="2377440"/>
          </a:xfrm>
          <a:prstGeom prst="rect">
            <a:avLst/>
          </a:prstGeom>
          <a:solidFill>
            <a:srgbClr val="1B2A55"/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4538831"/>
            <a:ext cx="1188720" cy="536089"/>
          </a:xfrm>
          <a:prstGeom prst="rect">
            <a:avLst/>
          </a:prstGeom>
          <a:solidFill>
            <a:srgbClr val="C19A3D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102만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46120" y="4081631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5166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1971년 (2차 베이비부머)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63240" y="5166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2023년 (현재)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세대가 만드는 3개의 시장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52160" y="2697480"/>
            <a:ext cx="5760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2843784"/>
            <a:ext cx="548640" cy="548640"/>
          </a:xfrm>
          <a:prstGeom prst="ellipse">
            <a:avLst/>
          </a:prstGeom>
          <a:solidFill>
            <a:srgbClr val="F4F5F8"/>
          </a:solidFill>
          <a:ln/>
        </p:spPr>
      </p:sp>
      <p:pic>
        <p:nvPicPr>
          <p:cNvPr id="15" name="Image 0" descr="/home/claude/assets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980944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03720" y="2816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케어링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6903720" y="31272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돌봄 — '25 매출 1,658억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104120" y="2953512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EAF4EF"/>
          </a:solidFill>
          <a:ln/>
        </p:spPr>
      </p:sp>
      <p:sp>
        <p:nvSpPr>
          <p:cNvPr id="19" name="Text 16"/>
          <p:cNvSpPr/>
          <p:nvPr/>
        </p:nvSpPr>
        <p:spPr>
          <a:xfrm>
            <a:off x="10104120" y="29535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완료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852160" y="3648456"/>
            <a:ext cx="5760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72200" y="3794760"/>
            <a:ext cx="548640" cy="548640"/>
          </a:xfrm>
          <a:prstGeom prst="ellipse">
            <a:avLst/>
          </a:prstGeom>
          <a:solidFill>
            <a:srgbClr val="F4F5F8"/>
          </a:solidFill>
          <a:ln/>
        </p:spPr>
      </p:sp>
      <p:pic>
        <p:nvPicPr>
          <p:cNvPr id="22" name="Image 1" descr="/home/claude/assets/b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931920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903720" y="37673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퀸잇 (라포랩스)</a:t>
            </a:r>
            <a:endParaRPr lang="en-US" sz="1550" dirty="0"/>
          </a:p>
        </p:txBody>
      </p:sp>
      <p:sp>
        <p:nvSpPr>
          <p:cNvPr id="24" name="Text 20"/>
          <p:cNvSpPr/>
          <p:nvPr/>
        </p:nvSpPr>
        <p:spPr>
          <a:xfrm>
            <a:off x="6903720" y="40782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커머스 — 거래액 1.5조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10104120" y="3904488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EAF4EF"/>
          </a:solidFill>
          <a:ln/>
        </p:spPr>
      </p:sp>
      <p:sp>
        <p:nvSpPr>
          <p:cNvPr id="26" name="Text 22"/>
          <p:cNvSpPr/>
          <p:nvPr/>
        </p:nvSpPr>
        <p:spPr>
          <a:xfrm>
            <a:off x="10104120" y="390448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완료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852160" y="4599432"/>
            <a:ext cx="5760720" cy="841248"/>
          </a:xfrm>
          <a:prstGeom prst="rect">
            <a:avLst/>
          </a:prstGeom>
          <a:solidFill>
            <a:srgbClr val="1B2A55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114300" dist="38100" dir="8100000">
              <a:srgbClr val="1B2A55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172200" y="4745736"/>
            <a:ext cx="548640" cy="548640"/>
          </a:xfrm>
          <a:prstGeom prst="ellipse">
            <a:avLst/>
          </a:prstGeom>
          <a:solidFill>
            <a:srgbClr val="C19A3D"/>
          </a:solidFill>
          <a:ln/>
        </p:spPr>
      </p:sp>
      <p:pic>
        <p:nvPicPr>
          <p:cNvPr id="29" name="Image 2" descr="/home/claude/assets/brie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882896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903720" y="47183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</a:t>
            </a:r>
            <a:endParaRPr lang="en-US" sz="1550" dirty="0"/>
          </a:p>
        </p:txBody>
      </p:sp>
      <p:sp>
        <p:nvSpPr>
          <p:cNvPr id="31" name="Text 26"/>
          <p:cNvSpPr/>
          <p:nvPr/>
        </p:nvSpPr>
        <p:spPr>
          <a:xfrm>
            <a:off x="6903720" y="50292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노동 · 전문성 — 비어 있음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10104120" y="4855464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C19A3D"/>
          </a:solidFill>
          <a:ln/>
        </p:spPr>
      </p:sp>
      <p:sp>
        <p:nvSpPr>
          <p:cNvPr id="33" name="Text 28"/>
          <p:cNvSpPr/>
          <p:nvPr/>
        </p:nvSpPr>
        <p:spPr>
          <a:xfrm>
            <a:off x="10104120" y="485546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 진입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954만 명의 전문성은 아직 누구도 가져가지 못했다.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WHY NOW · 창문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선점 창문이 지금 열려 있다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제도 환경·인구 구조·검증 인프라 공백이 동시에 진입 적기를 가리킨다. 핵심은 6개월의 선점 시간축이다.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66160" cy="3520440"/>
          </a:xfrm>
          <a:prstGeom prst="rect">
            <a:avLst/>
          </a:prstGeom>
          <a:solidFill>
            <a:srgbClr val="1B2A55"/>
          </a:solidFill>
          <a:ln/>
          <a:effectLst>
            <a:outerShdw sx="100000" sy="100000" kx="0" ky="0" algn="bl" rotWithShape="0" blurRad="114300" dist="38100" dir="8100000">
              <a:srgbClr val="1B2A5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5820" y="2628900"/>
            <a:ext cx="777240" cy="777240"/>
          </a:xfrm>
          <a:prstGeom prst="ellipse">
            <a:avLst/>
          </a:prstGeom>
          <a:solidFill>
            <a:srgbClr val="2A3D6E"/>
          </a:solidFill>
          <a:ln/>
        </p:spPr>
      </p:sp>
      <p:pic>
        <p:nvPicPr>
          <p:cNvPr id="7" name="Image 0" descr="/home/claude/assets/bol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82321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520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6개월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777240" y="4389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先手 선점 창문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4846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전문성 검증 인프라를 시장 표준으로 선점할 수 있는 한정 구간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9120" y="2194560"/>
            <a:ext cx="7223760" cy="1060704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12" name="Shape 9"/>
          <p:cNvSpPr/>
          <p:nvPr/>
        </p:nvSpPr>
        <p:spPr>
          <a:xfrm>
            <a:off x="4727448" y="2423160"/>
            <a:ext cx="603504" cy="603504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3" name="Image 1" descr="/home/claude/assets/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324" y="2574036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235915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 → 민간 유형화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5532120" y="2688336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2026년 민간형 시니어 일자리의 독립 유형화 논의 본격화. '대체'가 아닌 '독립 영역' 진입 정당성 확보.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389120" y="3424428"/>
            <a:ext cx="7223760" cy="1060704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17" name="Shape 13"/>
          <p:cNvSpPr/>
          <p:nvPr/>
        </p:nvSpPr>
        <p:spPr>
          <a:xfrm>
            <a:off x="4727448" y="3653028"/>
            <a:ext cx="603504" cy="603504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8" name="Image 2" descr="/home/claude/asset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324" y="380390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32120" y="358902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인프라 공백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5532120" y="3918204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잡코리아·사람인은 정적 이력 DB. 단기·전문성 실시간 검증은 비어 있어 표준 선점이 가능하다.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389120" y="4654296"/>
            <a:ext cx="7223760" cy="1060704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22" name="Shape 17"/>
          <p:cNvSpPr/>
          <p:nvPr/>
        </p:nvSpPr>
        <p:spPr>
          <a:xfrm>
            <a:off x="4727448" y="4882896"/>
            <a:ext cx="603504" cy="603504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3" name="Image 3" descr="/home/claude/assets/peo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324" y="5033772"/>
            <a:ext cx="301752" cy="30175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32120" y="481888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인구 구조 정점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5532120" y="5148072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2차 베이비부머 954만 명이 동시 은퇴 구간 진입. 공급 풀이 향후 10년간 구조적으로 두텁다.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스팟워크를 코어로, 일의 전 생애주기를 잇는다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Timee식 시간제 스팟워크가 코어. 그 위에 ENS 기반 전문가 자문과 채용을 얹어 한 명의 시니어를 평생 고객으로 락인한다.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66160" cy="352044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6" name="Shape 4"/>
          <p:cNvSpPr/>
          <p:nvPr/>
        </p:nvSpPr>
        <p:spPr>
          <a:xfrm>
            <a:off x="1897380" y="253746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assets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4550" y="2754630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STAGE 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37673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원포인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48640" y="4315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전문가 콜 · ENS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60120" y="468172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20분~ 시니어 전문가 자문. AI 시맨틱 매칭과 지식 자산화로 운영하는 고마진 차별화 레이어.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554480" y="2395728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C19A3D"/>
          </a:solidFill>
          <a:ln/>
        </p:spPr>
      </p:sp>
      <p:sp>
        <p:nvSpPr>
          <p:cNvPr id="13" name="Text 10"/>
          <p:cNvSpPr/>
          <p:nvPr/>
        </p:nvSpPr>
        <p:spPr>
          <a:xfrm>
            <a:off x="1554480" y="2395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ENS 차별화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97680" y="2194560"/>
            <a:ext cx="3566160" cy="3520440"/>
          </a:xfrm>
          <a:prstGeom prst="rect">
            <a:avLst/>
          </a:prstGeom>
          <a:solidFill>
            <a:srgbClr val="1B2A55"/>
          </a:solidFill>
          <a:ln/>
          <a:effectLst>
            <a:outerShdw sx="100000" sy="100000" kx="0" ky="0" algn="bl" rotWithShape="0" blurRad="114300" dist="38100" dir="8100000">
              <a:srgbClr val="1B2A55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46420" y="2537460"/>
            <a:ext cx="868680" cy="868680"/>
          </a:xfrm>
          <a:prstGeom prst="ellipse">
            <a:avLst/>
          </a:prstGeom>
          <a:solidFill>
            <a:srgbClr val="2A3D6E"/>
          </a:solidFill>
          <a:ln/>
        </p:spPr>
      </p:sp>
      <p:pic>
        <p:nvPicPr>
          <p:cNvPr id="16" name="Image 1" descr="/home/claude/assets/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590" y="2754630"/>
            <a:ext cx="434340" cy="4343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29768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STAGE 02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297680" y="37673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스팟워크</a:t>
            </a:r>
            <a:endParaRPr lang="en-US" sz="2700" dirty="0"/>
          </a:p>
        </p:txBody>
      </p:sp>
      <p:sp>
        <p:nvSpPr>
          <p:cNvPr id="19" name="Text 15"/>
          <p:cNvSpPr/>
          <p:nvPr/>
        </p:nvSpPr>
        <p:spPr>
          <a:xfrm>
            <a:off x="4297680" y="4315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CORE · 4~8시간 현장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709160" y="468172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물류·F&amp;B·제조 현장의 당일 단기 매칭. GMV의 핵심 엔진이자 수익 코어.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046720" y="2194560"/>
            <a:ext cx="3566160" cy="352044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22" name="Shape 18"/>
          <p:cNvSpPr/>
          <p:nvPr/>
        </p:nvSpPr>
        <p:spPr>
          <a:xfrm>
            <a:off x="9395460" y="253746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/home/claude/assets/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630" y="2754630"/>
            <a:ext cx="434340" cy="4343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04672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STAGE 03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046720" y="37673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스카웃</a:t>
            </a:r>
            <a:endParaRPr lang="en-US" sz="2700" dirty="0"/>
          </a:p>
        </p:txBody>
      </p:sp>
      <p:sp>
        <p:nvSpPr>
          <p:cNvPr id="26" name="Text 21"/>
          <p:cNvSpPr/>
          <p:nvPr/>
        </p:nvSpPr>
        <p:spPr>
          <a:xfrm>
            <a:off x="8046720" y="4315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정규 · 계약직 추천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458200" y="468172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현장·자문으로 검증된 워커를 장기 채용으로 연결. 고단가 수수료와 LTV 확장 레버.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114800" y="2743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Text 24"/>
          <p:cNvSpPr/>
          <p:nvPr/>
        </p:nvSpPr>
        <p:spPr>
          <a:xfrm>
            <a:off x="7863840" y="2743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BENCHMARK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세대를 케어·커머스가 증명했다. 다음은 '일'이다.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케어링(케어)·퀸잇(커머스)이 베이비부머 시장의 폭발력을, Timee가 스팟워크 모델의 상장 가능성을 입증했다.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630168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514600"/>
            <a:ext cx="3630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1,658억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케어링 · 시니어 케어 1위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'25 매출 · 누적투자 1,150억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2240280"/>
            <a:ext cx="3630168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61688" y="2514600"/>
            <a:ext cx="3630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1.5조원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361688" y="3291840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퀸잇(라포랩스) · 4050 커머스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44568" y="3611880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누적 거래액 · 기업가치 4,000억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74736" y="2240280"/>
            <a:ext cx="3630168" cy="18745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5E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74736" y="2514600"/>
            <a:ext cx="3630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342억엔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174736" y="3291840"/>
            <a:ext cx="3630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Timee(日) · 스팟워크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57616" y="3611880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FY25 매출 · 워커 1,100만+ · '24 도쿄증시 상장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1064240" cy="1234440"/>
          </a:xfrm>
          <a:prstGeom prst="rect">
            <a:avLst/>
          </a:prstGeom>
          <a:solidFill>
            <a:srgbClr val="1B2A55"/>
          </a:solidFill>
          <a:ln/>
          <a:effectLst>
            <a:outerShdw sx="100000" sy="100000" kx="0" ky="0" algn="bl" rotWithShape="0" blurRad="114300" dist="38100" dir="8100000">
              <a:srgbClr val="1B2A55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4823460"/>
            <a:ext cx="640080" cy="640080"/>
          </a:xfrm>
          <a:prstGeom prst="ellipse">
            <a:avLst/>
          </a:prstGeom>
          <a:solidFill>
            <a:srgbClr val="2A3D6E"/>
          </a:solidFill>
          <a:ln/>
        </p:spPr>
      </p:sp>
      <p:pic>
        <p:nvPicPr>
          <p:cNvPr id="19" name="Image 0" descr="/home/claude/assets/bol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498348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874520" y="4681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시사점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874520" y="498348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케어는 '돌봄', 커머스는 '소비', Timee는 일본의 '노동'을 가져갔다. 한국 시니어의 '노동·전문성'은 아직 비어 있다. VELOR가 세 번째 곡선이다.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TECHNOLOGY · 기술 차별성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전문성을 데이터 자산으로 바꾸는 Expert-AI 엔진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단순 인력 매칭(ENS 1.0)을 넘어, 시니어의 일회성 지식을 구조화된 인텔리전스로 축적한다. 이것이 Timee·채용 DB가 복제하기 어려운 해자다.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84832" cy="566928"/>
          </a:xfrm>
          <a:prstGeom prst="roundRect">
            <a:avLst>
              <a:gd name="adj" fmla="val 11290"/>
            </a:avLst>
          </a:prstGeom>
          <a:solidFill>
            <a:srgbClr val="2A3D6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Expert Match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615184" y="214884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25496" y="2148840"/>
            <a:ext cx="2084832" cy="566928"/>
          </a:xfrm>
          <a:prstGeom prst="roundRect">
            <a:avLst>
              <a:gd name="adj" fmla="val 11290"/>
            </a:avLst>
          </a:prstGeom>
          <a:solidFill>
            <a:srgbClr val="2A3D6E"/>
          </a:solidFill>
          <a:ln/>
        </p:spPr>
      </p:sp>
      <p:sp>
        <p:nvSpPr>
          <p:cNvPr id="9" name="Text 7"/>
          <p:cNvSpPr/>
          <p:nvPr/>
        </p:nvSpPr>
        <p:spPr>
          <a:xfrm>
            <a:off x="2825496" y="214884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Interactive STT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92040" y="214884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02352" y="2148840"/>
            <a:ext cx="2084832" cy="566928"/>
          </a:xfrm>
          <a:prstGeom prst="roundRect">
            <a:avLst>
              <a:gd name="adj" fmla="val 11290"/>
            </a:avLst>
          </a:prstGeom>
          <a:solidFill>
            <a:srgbClr val="2A3D6E"/>
          </a:solidFill>
          <a:ln/>
        </p:spPr>
      </p:sp>
      <p:sp>
        <p:nvSpPr>
          <p:cNvPr id="12" name="Text 10"/>
          <p:cNvSpPr/>
          <p:nvPr/>
        </p:nvSpPr>
        <p:spPr>
          <a:xfrm>
            <a:off x="5102352" y="214884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Structured LLM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68896" y="214884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79208" y="2148840"/>
            <a:ext cx="2084832" cy="566928"/>
          </a:xfrm>
          <a:prstGeom prst="roundRect">
            <a:avLst>
              <a:gd name="adj" fmla="val 11290"/>
            </a:avLst>
          </a:prstGeom>
          <a:solidFill>
            <a:srgbClr val="2A3D6E"/>
          </a:solidFill>
          <a:ln/>
        </p:spPr>
      </p:sp>
      <p:sp>
        <p:nvSpPr>
          <p:cNvPr id="15" name="Text 13"/>
          <p:cNvSpPr/>
          <p:nvPr/>
        </p:nvSpPr>
        <p:spPr>
          <a:xfrm>
            <a:off x="7379208" y="214884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Knowledge Graph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445752" y="214884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656064" y="2148840"/>
            <a:ext cx="2084832" cy="566928"/>
          </a:xfrm>
          <a:prstGeom prst="roundRect">
            <a:avLst>
              <a:gd name="adj" fmla="val 11290"/>
            </a:avLst>
          </a:prstGeom>
          <a:solidFill>
            <a:srgbClr val="C19A3D"/>
          </a:solidFill>
          <a:ln/>
        </p:spPr>
      </p:sp>
      <p:sp>
        <p:nvSpPr>
          <p:cNvPr id="18" name="Text 16"/>
          <p:cNvSpPr/>
          <p:nvPr/>
        </p:nvSpPr>
        <p:spPr>
          <a:xfrm>
            <a:off x="9656064" y="214884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Expert-AI Agent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5532120" cy="132588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" y="3236976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1B2A55"/>
          </a:solidFill>
          <a:ln/>
        </p:spPr>
      </p:sp>
      <p:pic>
        <p:nvPicPr>
          <p:cNvPr id="21" name="Image 0" descr="/home/claude/asset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424" y="3408152"/>
            <a:ext cx="370881" cy="37088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783080" y="314553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시맨틱 매칭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1783080" y="349300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자연어 과제를 분석해 시니어 전문가의 숨은 이력·특허 키워드까지 실시간 대조. 서칭 운영 리소스 최대 70% 절감.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080760" y="2926080"/>
            <a:ext cx="5532120" cy="132588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25" name="Shape 22"/>
          <p:cNvSpPr/>
          <p:nvPr/>
        </p:nvSpPr>
        <p:spPr>
          <a:xfrm>
            <a:off x="6373368" y="3236976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1B2A55"/>
          </a:solidFill>
          <a:ln/>
        </p:spPr>
      </p:sp>
      <p:pic>
        <p:nvPicPr>
          <p:cNvPr id="26" name="Image 1" descr="/home/claude/assets/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544" y="3408152"/>
            <a:ext cx="370881" cy="370881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315200" y="3145536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Interactive STT · 지식 그래프</a:t>
            </a:r>
            <a:endParaRPr lang="en-US" sz="1550" dirty="0"/>
          </a:p>
        </p:txBody>
      </p:sp>
      <p:sp>
        <p:nvSpPr>
          <p:cNvPr id="28" name="Text 24"/>
          <p:cNvSpPr/>
          <p:nvPr/>
        </p:nvSpPr>
        <p:spPr>
          <a:xfrm>
            <a:off x="7315200" y="349300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자문 음성을 실시간 텍스트·한↔영 교차번역으로 변환, 비식별 구조화해 산업 지식 맵으로 축적.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48640" y="4370832"/>
            <a:ext cx="5532120" cy="132588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30" name="Shape 26"/>
          <p:cNvSpPr/>
          <p:nvPr/>
        </p:nvSpPr>
        <p:spPr>
          <a:xfrm>
            <a:off x="841248" y="4681728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1B2A55"/>
          </a:solidFill>
          <a:ln/>
        </p:spPr>
      </p:sp>
      <p:pic>
        <p:nvPicPr>
          <p:cNvPr id="31" name="Image 2" descr="/home/claude/asset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424" y="4852904"/>
            <a:ext cx="370881" cy="370881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783080" y="459028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Compliance Shield</a:t>
            </a:r>
            <a:endParaRPr lang="en-US" sz="1550" dirty="0"/>
          </a:p>
        </p:txBody>
      </p:sp>
      <p:sp>
        <p:nvSpPr>
          <p:cNvPr id="33" name="Text 28"/>
          <p:cNvSpPr/>
          <p:nvPr/>
        </p:nvSpPr>
        <p:spPr>
          <a:xfrm>
            <a:off x="1783080" y="49377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국세청 사업자 실시간 조회 + 산업기술보호법 금지질문 필터 + 이해상충 이중맹검으로 자문 리스크 차단.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6080760" y="4370832"/>
            <a:ext cx="5532120" cy="132588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35" name="Shape 30"/>
          <p:cNvSpPr/>
          <p:nvPr/>
        </p:nvSpPr>
        <p:spPr>
          <a:xfrm>
            <a:off x="6373368" y="4681728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1B2A55"/>
          </a:solidFill>
          <a:ln/>
        </p:spPr>
      </p:sp>
      <p:pic>
        <p:nvPicPr>
          <p:cNvPr id="36" name="Image 3" descr="/home/claude/assets/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544" y="4852904"/>
            <a:ext cx="370881" cy="370881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315200" y="459028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Expert-AI Agent</a:t>
            </a:r>
            <a:endParaRPr lang="en-US" sz="1550" dirty="0"/>
          </a:p>
        </p:txBody>
      </p:sp>
      <p:sp>
        <p:nvSpPr>
          <p:cNvPr id="38" name="Text 32"/>
          <p:cNvSpPr/>
          <p:nvPr/>
        </p:nvSpPr>
        <p:spPr>
          <a:xfrm>
            <a:off x="7315200" y="49377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축적 데이터로 동일 주제 1차 답변을 즉시 도출하고 온디맨드 인텔리전스 보고서를 자동 발행.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EXPERT INTELLIGENCE CLOUD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전문가 '연결'에서 전문가 '지식 자산화'로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글로벌 ENS(GLG · Third Bridge · Arches)는 전문가 연결·전화 인터뷰에 머문다. VELOR는 콜을 데이터로 축적해 산업 인텔리전스를 생성하는 3단계로 이동한다.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182880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87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1단계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77977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Expert Matching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시맨틱 매칭으로 검증된 시니어 전문가를 즉시 연결. (현 글로벌 ENS 수준)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78224" y="2286000"/>
            <a:ext cx="274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15968" y="2286000"/>
            <a:ext cx="3566160" cy="182880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2487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2단계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90288" y="277977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Expert Knowledge Base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0288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STT·지식그래프로 콜을 구조화해 재사용 가능한 지식 자산으로 축적.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45552" y="2286000"/>
            <a:ext cx="274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083296" y="2286000"/>
            <a:ext cx="3566160" cy="1828800"/>
          </a:xfrm>
          <a:prstGeom prst="rect">
            <a:avLst/>
          </a:prstGeom>
          <a:solidFill>
            <a:srgbClr val="1B2A55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2487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B9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3단계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57616" y="277977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Expert Intelligence AI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57616" y="3200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축적된 인터뷰로 산업 리포트를 사전 생성. 콜 전에 AI 리포트를 먼저 판매.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1091672" cy="1417320"/>
          </a:xfrm>
          <a:prstGeom prst="rect">
            <a:avLst/>
          </a:prstGeom>
          <a:solidFill>
            <a:srgbClr val="1B2A55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526280"/>
            <a:ext cx="91440" cy="1417320"/>
          </a:xfrm>
          <a:prstGeom prst="rect">
            <a:avLst/>
          </a:prstGeom>
          <a:solidFill>
            <a:srgbClr val="C19A3D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75488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'AI Agent 시장' 인터뷰가 1,000건 쌓이면, 신규 고객은 콜 전에 AI 리포트를 먼저 구매한다.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번 축적된 데이터가 영구적 진입장벽이 된다.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138160" y="47548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D8B9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SaaS + Data + ENS</a:t>
            </a:r>
            <a:endParaRPr lang="en-US" sz="2000" dirty="0"/>
          </a:p>
          <a:p>
            <a:pPr algn="r"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3중 수익 구조 동시 보유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VERTICAL STRATEGY · 비치헤드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TIPS·VC에서 시작해 AI·반도체·바이오로 확장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창업자의 VC·TIPS 네트워크를 레버리지해 'TIPS·VC 전용 AI ENS'를 비치헤드로 진입. 적은 자본으로 시작해 고부가 버티컬로 확장한다.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4663440" cy="2468880"/>
          </a:xfrm>
          <a:prstGeom prst="rect">
            <a:avLst/>
          </a:prstGeom>
          <a:solidFill>
            <a:srgbClr val="1B2A5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6888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D8B96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11B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BEACHHEAD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2852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TIPS·VC 검증 ENS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552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반도체 등 딥테크 30분 기술 검증으로 VC의 기술 이해 부족·실사 비용 부담을 해소.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8B9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"이 기술이 진짜 가능한가?"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8B9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"6개월 내 상용화가 가능한가?"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8B9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"특허 장벽이 존재하는가?"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 고객 TIPS 운영사·AC·VC·CVC  ·  전문가 반도체 임원·CTO·기술이사·전직 심사역·교수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40680" y="2240280"/>
            <a:ext cx="2999232" cy="118872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40680" y="2240280"/>
            <a:ext cx="64008" cy="1188720"/>
          </a:xfrm>
          <a:prstGeom prst="rect">
            <a:avLst/>
          </a:prstGeom>
          <a:solidFill>
            <a:srgbClr val="C19A3D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240487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AI·반도체 실사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69280" y="2743200"/>
            <a:ext cx="2633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GPU·NPU·HBM·파운드리·패키징. Samsung·SK hynix·Rebellions·FuriosaAI 풀.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41080" y="2240280"/>
            <a:ext cx="2999232" cy="118872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17" name="Shape 15"/>
          <p:cNvSpPr/>
          <p:nvPr/>
        </p:nvSpPr>
        <p:spPr>
          <a:xfrm>
            <a:off x="8641080" y="2240280"/>
            <a:ext cx="64008" cy="1188720"/>
          </a:xfrm>
          <a:prstGeom prst="rect">
            <a:avLst/>
          </a:prstGeom>
          <a:solidFill>
            <a:srgbClr val="C19A3D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0" y="240487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바이오·헬스케어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869680" y="2743200"/>
            <a:ext cx="2633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前 FDA 심사관·GMP·임상 책임자. 규제·글로벌 진출 자문.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40680" y="3520440"/>
            <a:ext cx="2999232" cy="118872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21" name="Shape 19"/>
          <p:cNvSpPr/>
          <p:nvPr/>
        </p:nvSpPr>
        <p:spPr>
          <a:xfrm>
            <a:off x="5440680" y="3520440"/>
            <a:ext cx="64008" cy="1188720"/>
          </a:xfrm>
          <a:prstGeom prst="rect">
            <a:avLst/>
          </a:prstGeom>
          <a:solidFill>
            <a:srgbClr val="C19A3D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368503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K-콘텐츠 글로벌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669280" y="4023360"/>
            <a:ext cx="2633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OTT 편성·IP 라이선스·글로벌 배급·웹툰 사업화.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41080" y="3520440"/>
            <a:ext cx="2999232" cy="118872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25" name="Shape 23"/>
          <p:cNvSpPr/>
          <p:nvPr/>
        </p:nvSpPr>
        <p:spPr>
          <a:xfrm>
            <a:off x="8641080" y="3520440"/>
            <a:ext cx="64008" cy="1188720"/>
          </a:xfrm>
          <a:prstGeom prst="rect">
            <a:avLst/>
          </a:prstGeom>
          <a:solidFill>
            <a:srgbClr val="C19A3D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0" y="3685032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제조·스마트팩토리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869680" y="4023360"/>
            <a:ext cx="2633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생산기술·품질관리·공장장·스마트팩토리 PM.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892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수익 모델 — 인터뷰에서 인텔리전스까지 단계 과금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212080"/>
            <a:ext cx="2084832" cy="868680"/>
          </a:xfrm>
          <a:prstGeom prst="roundRect">
            <a:avLst>
              <a:gd name="adj" fmla="val 7368"/>
            </a:avLst>
          </a:prstGeom>
          <a:solidFill>
            <a:srgbClr val="F4F5F8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532180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Basic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13232" y="555955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20분 인터뷰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13232" y="576072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15~30만원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798064" y="5212080"/>
            <a:ext cx="2084832" cy="868680"/>
          </a:xfrm>
          <a:prstGeom prst="roundRect">
            <a:avLst>
              <a:gd name="adj" fmla="val 7368"/>
            </a:avLst>
          </a:prstGeom>
          <a:solidFill>
            <a:srgbClr val="F4F5F8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62656" y="532180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Professional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962656" y="555955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1시간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62656" y="576072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50~150만원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047488" y="5212080"/>
            <a:ext cx="2084832" cy="868680"/>
          </a:xfrm>
          <a:prstGeom prst="roundRect">
            <a:avLst>
              <a:gd name="adj" fmla="val 7368"/>
            </a:avLst>
          </a:prstGeom>
          <a:solidFill>
            <a:srgbClr val="F4F5F8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532180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Research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212080" y="555955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인터뷰+보고서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212080" y="576072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300~1,000만원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296912" y="5212080"/>
            <a:ext cx="2084832" cy="868680"/>
          </a:xfrm>
          <a:prstGeom prst="roundRect">
            <a:avLst>
              <a:gd name="adj" fmla="val 7368"/>
            </a:avLst>
          </a:prstGeom>
          <a:solidFill>
            <a:srgbClr val="1B2A55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61504" y="532180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Membership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461504" y="555955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VC 전용 구독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461504" y="576072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B9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 1,000~5,000만원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9546336" y="5212080"/>
            <a:ext cx="2084832" cy="868680"/>
          </a:xfrm>
          <a:prstGeom prst="roundRect">
            <a:avLst>
              <a:gd name="adj" fmla="val 7368"/>
            </a:avLst>
          </a:prstGeom>
          <a:solidFill>
            <a:srgbClr val="1B2A55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10928" y="532180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Enterprise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9710928" y="555955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대기업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710928" y="576072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B9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 5,000만~원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BUSINESS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GMV 수수료 + ENS 빌링, 이원 수익 구조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스팟워크는 거래액(GMV) 연동 18% 수수료, 전문가 콜은 선불 없는 종량제로 과금한다. 워커 임금은 플랫폼 수익과 분리된다.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수익 흐름 (스팟워크 코어)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42032"/>
            <a:ext cx="5303520" cy="749808"/>
          </a:xfrm>
          <a:prstGeom prst="rect">
            <a:avLst/>
          </a:prstGeom>
          <a:solidFill>
            <a:srgbClr val="2A3D6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70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기업 결제 (GMV)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9626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현장이 지불하는 총 거래액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17520" y="32552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93008"/>
            <a:ext cx="5303520" cy="749808"/>
          </a:xfrm>
          <a:prstGeom prst="rect">
            <a:avLst/>
          </a:prstGeom>
          <a:solidFill>
            <a:srgbClr val="F4F5F8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210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워커 임금 지급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9136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노동 대가 — 플랫폼 수익 아님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17520" y="4206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443984"/>
            <a:ext cx="5303520" cy="749808"/>
          </a:xfrm>
          <a:prstGeom prst="rect">
            <a:avLst/>
          </a:prstGeom>
          <a:solidFill>
            <a:srgbClr val="1B2A55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443984"/>
            <a:ext cx="73152" cy="749808"/>
          </a:xfrm>
          <a:prstGeom prst="rect">
            <a:avLst/>
          </a:prstGeom>
          <a:solidFill>
            <a:srgbClr val="C19A3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572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 수수료 18%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8646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B9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GMV 연동 핵심 수익원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44068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ENS 빌링: 원포인 20분 숏콜 종량제(선불 없음) · 스카웃 고단가 채용 수수료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2148840"/>
            <a:ext cx="5257800" cy="333756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유닛 이코노믹스 (목표)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수수료율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18%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0058400" y="2880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GMV 연동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75120" y="34107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타깃 업종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3364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7개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10058400" y="34107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물류·유통·F&amp;B·제조·사무·교육·관광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675120" y="39410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BEP 도달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0" y="38953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M10~M11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10058400" y="394106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M5 첫 흑자 +462만 원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675120" y="44714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M18 월수익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0" y="44256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1.44억 원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10058400" y="447141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스케일 구간 진입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75120" y="5029200"/>
            <a:ext cx="4663440" cy="0"/>
          </a:xfrm>
          <a:prstGeom prst="line">
            <a:avLst/>
          </a:prstGeom>
          <a:noFill/>
          <a:ln w="12700">
            <a:solidFill>
              <a:srgbClr val="E2E5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5120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마진 차별화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매칭으로 운영 리소스 70%↓ → 영업이익률 42% 목표 (전통 ENS 15% 대비)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PRODUCT · 예시화면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일자리 중개인 ENS — 요청에서 검증까지 한 화면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기업의 자연어 요청을 AI가 검증된 시니어 전문가로 매칭하고, 컴플라이언스 점검까지 한 흐름으로 끝낸다.</a:t>
            </a:r>
            <a:endParaRPr lang="en-US" sz="1400" dirty="0"/>
          </a:p>
        </p:txBody>
      </p:sp>
      <p:pic>
        <p:nvPicPr>
          <p:cNvPr id="5" name="Image 0" descr="/home/claude/assets/m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1070" y="1737360"/>
            <a:ext cx="2496225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202082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자연어 요청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0160" y="2368296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기업이 필요 역량을 문장으로 입력하면 AI가 직무·업종을 자동 분류한다.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118104"/>
            <a:ext cx="457200" cy="45720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80160" y="30815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검증된 매칭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80160" y="34290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신원·경력·국세청 사업자까지 실시간 검증된 전문가를 적합도 점수와 함께 추천.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4178808"/>
            <a:ext cx="457200" cy="45720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80160" y="414223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Compliance Shield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80160" y="448970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산업기술보호·이해상충 가이드를 자동 적용해 자문 리스크를 원천 차단.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5239512"/>
            <a:ext cx="457200" cy="45720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80160" y="52029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종량제 예약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80160" y="555040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선불금 없는 20분 콜 + AI 사전 브리핑. 음성은 STT로 지식 자산화된다.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MARKET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5조 시장, 초기 표적은 1,200억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케어·커머스가 검증한 세대를 '노동·전문성'으로 확장. 단일 세대 954만이 만드는 신규 시장.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0607040" cy="987552"/>
          </a:xfrm>
          <a:prstGeom prst="rect">
            <a:avLst/>
          </a:prstGeom>
          <a:solidFill>
            <a:srgbClr val="1B2A55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45059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0" y="2395728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5조원 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0" y="245059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노동·자문·채용 통합 잠재 거래액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456432"/>
            <a:ext cx="7863840" cy="987552"/>
          </a:xfrm>
          <a:prstGeom prst="rect">
            <a:avLst/>
          </a:prstGeom>
          <a:solidFill>
            <a:srgbClr val="2A3D6E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62102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286000" y="3566160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9,200억 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303520" y="362102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2027년 유효 시장 (원포인·스팟·스카웃)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626864"/>
            <a:ext cx="4572000" cy="987552"/>
          </a:xfrm>
          <a:prstGeom prst="rect">
            <a:avLst/>
          </a:prstGeom>
          <a:solidFill>
            <a:srgbClr val="C19A3D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79145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286000" y="4736592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1,200억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791456"/>
            <a:ext cx="-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 3년 내 침투 목표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출처: 통계청 장래인구추계(954만) · 케어링/퀸잇 시장 검증 · 한국헤드헌팅협회 · SOM은 워커 5,000명 선점 시나리오 연동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COMPETITION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노동 매칭과 채용 DB 사이, 비어 있는 좌표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Timee는 '단순 노동', 잡코리아·사람인은 '정적 이력 DB'. VELOR는 검증된 전문성을 실시간으로 매칭한다.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383280" cy="54864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31920" y="2194560"/>
            <a:ext cx="2468880" cy="54864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Timee (日 스팟워크)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2194560"/>
            <a:ext cx="2468880" cy="54864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잡코리아·사람인 (채용)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869680" y="2194560"/>
            <a:ext cx="2743200" cy="548640"/>
          </a:xfrm>
          <a:prstGeom prst="rect">
            <a:avLst/>
          </a:prstGeom>
          <a:solidFill>
            <a:srgbClr val="1B2A55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0" y="2194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33832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74320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모델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931920" y="2743200"/>
            <a:ext cx="24688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274320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시간제 단순 노동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2743200"/>
            <a:ext cx="24688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74320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채용 공고·이력 DB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69680" y="2743200"/>
            <a:ext cx="2743200" cy="512064"/>
          </a:xfrm>
          <a:prstGeom prst="rect">
            <a:avLst/>
          </a:prstGeom>
          <a:solidFill>
            <a:srgbClr val="F3F0E6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0" y="274320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전문성 기반 생애주기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255264"/>
            <a:ext cx="3383280" cy="512064"/>
          </a:xfrm>
          <a:prstGeom prst="rect">
            <a:avLst/>
          </a:prstGeom>
          <a:solidFill>
            <a:srgbClr val="F4F5F8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5526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특화 UX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931920" y="3255264"/>
            <a:ext cx="2468880" cy="512064"/>
          </a:xfrm>
          <a:prstGeom prst="rect">
            <a:avLst/>
          </a:prstGeom>
          <a:solidFill>
            <a:srgbClr val="F4F5F8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325526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△ 범용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3255264"/>
            <a:ext cx="2468880" cy="512064"/>
          </a:xfrm>
          <a:prstGeom prst="rect">
            <a:avLst/>
          </a:prstGeom>
          <a:solidFill>
            <a:srgbClr val="F4F5F8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25526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4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✕ 없음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69680" y="3255264"/>
            <a:ext cx="2743200" cy="512064"/>
          </a:xfrm>
          <a:prstGeom prst="rect">
            <a:avLst/>
          </a:prstGeom>
          <a:solidFill>
            <a:srgbClr val="F3F0E6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0" y="325526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◎ SMS 온보딩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767328"/>
            <a:ext cx="33832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76732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전문성 실시간 검증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931920" y="3767328"/>
            <a:ext cx="24688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0" y="376732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4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✕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3767328"/>
            <a:ext cx="24688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376732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△ 이력서 의존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869680" y="3767328"/>
            <a:ext cx="2743200" cy="512064"/>
          </a:xfrm>
          <a:prstGeom prst="rect">
            <a:avLst/>
          </a:prstGeom>
          <a:solidFill>
            <a:srgbClr val="F3F0E6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0" y="376732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◎ ENS·국세청 검증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279392"/>
            <a:ext cx="3383280" cy="512064"/>
          </a:xfrm>
          <a:prstGeom prst="rect">
            <a:avLst/>
          </a:prstGeom>
          <a:solidFill>
            <a:srgbClr val="F4F5F8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27939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단기 → 채용 생애주기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931920" y="4279392"/>
            <a:ext cx="2468880" cy="512064"/>
          </a:xfrm>
          <a:prstGeom prst="rect">
            <a:avLst/>
          </a:prstGeom>
          <a:solidFill>
            <a:srgbClr val="F4F5F8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0" y="427939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△ 단기 중심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0" y="4279392"/>
            <a:ext cx="2468880" cy="512064"/>
          </a:xfrm>
          <a:prstGeom prst="rect">
            <a:avLst/>
          </a:prstGeom>
          <a:solidFill>
            <a:srgbClr val="F4F5F8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427939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△ 채용 중심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869680" y="4279392"/>
            <a:ext cx="2743200" cy="512064"/>
          </a:xfrm>
          <a:prstGeom prst="rect">
            <a:avLst/>
          </a:prstGeom>
          <a:solidFill>
            <a:srgbClr val="F3F0E6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61120" y="427939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◎ 스팟→자문→스카웃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4791456"/>
            <a:ext cx="33832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79145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 네트워크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3931920" y="4791456"/>
            <a:ext cx="24688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23360" y="479145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4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✕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400800" y="4791456"/>
            <a:ext cx="24688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2240" y="479145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46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✕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869680" y="4791456"/>
            <a:ext cx="2743200" cy="512064"/>
          </a:xfrm>
          <a:prstGeom prst="rect">
            <a:avLst/>
          </a:prstGeom>
          <a:solidFill>
            <a:srgbClr val="F3F0E6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61120" y="479145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◎ 개발원 MOU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48640" y="5532120"/>
            <a:ext cx="3630168" cy="868680"/>
          </a:xfrm>
          <a:prstGeom prst="rect">
            <a:avLst/>
          </a:prstGeom>
          <a:solidFill>
            <a:srgbClr val="1B2A55"/>
          </a:solidFill>
          <a:ln/>
        </p:spPr>
      </p:sp>
      <p:sp>
        <p:nvSpPr>
          <p:cNvPr id="54" name="Shape 52"/>
          <p:cNvSpPr/>
          <p:nvPr/>
        </p:nvSpPr>
        <p:spPr>
          <a:xfrm>
            <a:off x="800100" y="5715000"/>
            <a:ext cx="502920" cy="502920"/>
          </a:xfrm>
          <a:prstGeom prst="ellipse">
            <a:avLst/>
          </a:prstGeom>
          <a:solidFill>
            <a:srgbClr val="2A3D6E"/>
          </a:solidFill>
          <a:ln/>
        </p:spPr>
      </p:sp>
      <p:pic>
        <p:nvPicPr>
          <p:cNvPr id="55" name="Image 0" descr="/home/claude/asset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5840730"/>
            <a:ext cx="251460" cy="251460"/>
          </a:xfrm>
          <a:prstGeom prst="rect">
            <a:avLst/>
          </a:prstGeom>
        </p:spPr>
      </p:pic>
      <p:sp>
        <p:nvSpPr>
          <p:cNvPr id="56" name="Text 53"/>
          <p:cNvSpPr/>
          <p:nvPr/>
        </p:nvSpPr>
        <p:spPr>
          <a:xfrm>
            <a:off x="1417320" y="5650992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 네트워크 독점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1417320" y="594360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한국노인인력개발원 MOU로 공급·신뢰 선점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4361688" y="5532120"/>
            <a:ext cx="3630168" cy="868680"/>
          </a:xfrm>
          <a:prstGeom prst="rect">
            <a:avLst/>
          </a:prstGeom>
          <a:solidFill>
            <a:srgbClr val="1B2A55"/>
          </a:solidFill>
          <a:ln/>
        </p:spPr>
      </p:sp>
      <p:sp>
        <p:nvSpPr>
          <p:cNvPr id="59" name="Shape 56"/>
          <p:cNvSpPr/>
          <p:nvPr/>
        </p:nvSpPr>
        <p:spPr>
          <a:xfrm>
            <a:off x="4613148" y="5715000"/>
            <a:ext cx="502920" cy="502920"/>
          </a:xfrm>
          <a:prstGeom prst="ellipse">
            <a:avLst/>
          </a:prstGeom>
          <a:solidFill>
            <a:srgbClr val="2A3D6E"/>
          </a:solidFill>
          <a:ln/>
        </p:spPr>
      </p:sp>
      <p:pic>
        <p:nvPicPr>
          <p:cNvPr id="60" name="Image 1" descr="/home/claude/assets/s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878" y="5840730"/>
            <a:ext cx="251460" cy="251460"/>
          </a:xfrm>
          <a:prstGeom prst="rect">
            <a:avLst/>
          </a:prstGeom>
        </p:spPr>
      </p:pic>
      <p:sp>
        <p:nvSpPr>
          <p:cNvPr id="61" name="Text 57"/>
          <p:cNvSpPr/>
          <p:nvPr/>
        </p:nvSpPr>
        <p:spPr>
          <a:xfrm>
            <a:off x="5230368" y="5650992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SMS 온보딩 UX</a:t>
            </a:r>
            <a:endParaRPr lang="en-US" sz="1300" dirty="0"/>
          </a:p>
        </p:txBody>
      </p:sp>
      <p:sp>
        <p:nvSpPr>
          <p:cNvPr id="62" name="Text 58"/>
          <p:cNvSpPr/>
          <p:nvPr/>
        </p:nvSpPr>
        <p:spPr>
          <a:xfrm>
            <a:off x="5230368" y="594360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앱·복잡한 인증 없이 문자 기반 가입</a:t>
            </a:r>
            <a:endParaRPr lang="en-US" sz="1050" dirty="0"/>
          </a:p>
        </p:txBody>
      </p:sp>
      <p:sp>
        <p:nvSpPr>
          <p:cNvPr id="63" name="Shape 59"/>
          <p:cNvSpPr/>
          <p:nvPr/>
        </p:nvSpPr>
        <p:spPr>
          <a:xfrm>
            <a:off x="8174736" y="5532120"/>
            <a:ext cx="3630168" cy="868680"/>
          </a:xfrm>
          <a:prstGeom prst="rect">
            <a:avLst/>
          </a:prstGeom>
          <a:solidFill>
            <a:srgbClr val="1B2A55"/>
          </a:solidFill>
          <a:ln/>
        </p:spPr>
      </p:sp>
      <p:sp>
        <p:nvSpPr>
          <p:cNvPr id="64" name="Shape 60"/>
          <p:cNvSpPr/>
          <p:nvPr/>
        </p:nvSpPr>
        <p:spPr>
          <a:xfrm>
            <a:off x="8426196" y="5715000"/>
            <a:ext cx="502920" cy="502920"/>
          </a:xfrm>
          <a:prstGeom prst="ellipse">
            <a:avLst/>
          </a:prstGeom>
          <a:solidFill>
            <a:srgbClr val="2A3D6E"/>
          </a:solidFill>
          <a:ln/>
        </p:spPr>
      </p:sp>
      <p:pic>
        <p:nvPicPr>
          <p:cNvPr id="65" name="Image 2" descr="/home/claude/asset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926" y="5840730"/>
            <a:ext cx="251460" cy="251460"/>
          </a:xfrm>
          <a:prstGeom prst="rect">
            <a:avLst/>
          </a:prstGeom>
        </p:spPr>
      </p:pic>
      <p:sp>
        <p:nvSpPr>
          <p:cNvPr id="66" name="Text 61"/>
          <p:cNvSpPr/>
          <p:nvPr/>
        </p:nvSpPr>
        <p:spPr>
          <a:xfrm>
            <a:off x="9043416" y="5650992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先手 락인 5,000명</a:t>
            </a:r>
            <a:endParaRPr lang="en-US" sz="1300" dirty="0"/>
          </a:p>
        </p:txBody>
      </p:sp>
      <p:sp>
        <p:nvSpPr>
          <p:cNvPr id="67" name="Text 62"/>
          <p:cNvSpPr/>
          <p:nvPr/>
        </p:nvSpPr>
        <p:spPr>
          <a:xfrm>
            <a:off x="9043416" y="594360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선점 공급 풀이 곧 진입장벽</a:t>
            </a:r>
            <a:endParaRPr lang="en-US" sz="1050" dirty="0"/>
          </a:p>
        </p:txBody>
      </p:sp>
      <p:sp>
        <p:nvSpPr>
          <p:cNvPr id="68" name="Text 63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</a:t>
            </a:r>
            <a:endParaRPr lang="en-US" sz="1000" dirty="0"/>
          </a:p>
        </p:txBody>
      </p:sp>
      <p:sp>
        <p:nvSpPr>
          <p:cNvPr id="69" name="Text 64"/>
          <p:cNvSpPr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GO-TO-MARKET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공급 선점 → 현장·전문성 확보 → 지표 증명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6개월 창문 안에서 워커 공급과 현장 수요를 동시에 확보해 매칭 밀도를 끌어올린다.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630168" cy="3246120"/>
          </a:xfrm>
          <a:prstGeom prst="rect">
            <a:avLst/>
          </a:prstGeom>
          <a:solidFill>
            <a:srgbClr val="F4F5F8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29384" y="2583180"/>
            <a:ext cx="868680" cy="86868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7" name="Image 0" descr="/home/claude/assets/user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6554" y="2800350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61188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1단계 · 공급 선점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 네트워크 MOU 기반 워커·전문가 5,000명 확보. SMS 온보딩으로 가입 전환율 극대화.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3630168" cy="457200"/>
          </a:xfrm>
          <a:prstGeom prst="rect">
            <a:avLst/>
          </a:prstGeom>
          <a:solidFill>
            <a:srgbClr val="1B2A55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5029200"/>
            <a:ext cx="3630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CAC 최소화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1688" y="2240280"/>
            <a:ext cx="3630168" cy="3246120"/>
          </a:xfrm>
          <a:prstGeom prst="rect">
            <a:avLst/>
          </a:prstGeom>
          <a:solidFill>
            <a:srgbClr val="F4F5F8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42432" y="2583180"/>
            <a:ext cx="868680" cy="86868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4" name="Image 1" descr="/home/claude/assets/bol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602" y="2800350"/>
            <a:ext cx="434340" cy="4343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36008" y="361188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2단계 · 현장·전문성 확보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727448" y="4069080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물류·F&amp;B·제조 거점부터 현장 파트너 온보딩. ENS 콜로 전문가 풀을 활성화한다.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61688" y="5029200"/>
            <a:ext cx="3630168" cy="457200"/>
          </a:xfrm>
          <a:prstGeom prst="rect">
            <a:avLst/>
          </a:prstGeom>
          <a:solidFill>
            <a:srgbClr val="1B2A55"/>
          </a:solidFill>
          <a:ln/>
        </p:spPr>
      </p:sp>
      <p:sp>
        <p:nvSpPr>
          <p:cNvPr id="18" name="Text 14"/>
          <p:cNvSpPr/>
          <p:nvPr/>
        </p:nvSpPr>
        <p:spPr>
          <a:xfrm>
            <a:off x="4361688" y="5029200"/>
            <a:ext cx="3630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매칭 밀도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174736" y="2240280"/>
            <a:ext cx="3630168" cy="3246120"/>
          </a:xfrm>
          <a:prstGeom prst="rect">
            <a:avLst/>
          </a:prstGeom>
          <a:solidFill>
            <a:srgbClr val="F4F5F8"/>
          </a:solidFill>
          <a:ln/>
          <a:effectLst>
            <a:outerShdw sx="100000" sy="100000" kx="0" ky="0" algn="bl" rotWithShape="0" blurRad="889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555480" y="2583180"/>
            <a:ext cx="868680" cy="86868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1" name="Image 2" descr="/home/claude/assets/rocke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0" y="2800350"/>
            <a:ext cx="434340" cy="4343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49056" y="361188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3단계 · 지표 증명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540496" y="4069080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재방문·LTV·ESG·전문성 데이터를 축적해 Pre-A 투자 근거화. 스카웃으로 LTV 확장.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8174736" y="5029200"/>
            <a:ext cx="3630168" cy="457200"/>
          </a:xfrm>
          <a:prstGeom prst="rect">
            <a:avLst/>
          </a:prstGeom>
          <a:solidFill>
            <a:srgbClr val="1B2A55"/>
          </a:solidFill>
          <a:ln/>
        </p:spPr>
      </p:sp>
      <p:sp>
        <p:nvSpPr>
          <p:cNvPr id="25" name="Text 20"/>
          <p:cNvSpPr/>
          <p:nvPr/>
        </p:nvSpPr>
        <p:spPr>
          <a:xfrm>
            <a:off x="8174736" y="5029200"/>
            <a:ext cx="3630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LTV / ROAS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FINANCIALS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M5 첫 흑자, M11 BEP, 코스닥 IPO까지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 흑자 전환 후 가파른 월수익 성장. 단계별 자금 조달과 명확한 출구 전략을 갖췄다.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월수익 궤적 (백만 원)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468880"/>
          <a:ext cx="5669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492240" y="2468880"/>
            <a:ext cx="5120640" cy="320040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8" name="Text 5"/>
          <p:cNvSpPr/>
          <p:nvPr/>
        </p:nvSpPr>
        <p:spPr>
          <a:xfrm>
            <a:off x="676656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자금 조달 로드맵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766560" y="3063240"/>
            <a:ext cx="146304" cy="146304"/>
          </a:xfrm>
          <a:prstGeom prst="ellipse">
            <a:avLst/>
          </a:prstGeom>
          <a:solidFill>
            <a:srgbClr val="C19A3D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0" y="29626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Pre-Seed  </a:t>
            </a:r>
            <a:pPr indent="0" marL="0">
              <a:buNone/>
            </a:pPr>
            <a:r>
              <a:rPr lang="en-US" sz="135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5억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040880" y="32369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법인설립 · MVP · 초기 공급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766560" y="3611880"/>
            <a:ext cx="146304" cy="146304"/>
          </a:xfrm>
          <a:prstGeom prst="ellipse">
            <a:avLst/>
          </a:prstGeom>
          <a:solidFill>
            <a:srgbClr val="C19A3D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0" y="35112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Pre-A (TIPS)  </a:t>
            </a:r>
            <a:pPr indent="0" marL="0">
              <a:buNone/>
            </a:pPr>
            <a:r>
              <a:rPr lang="en-US" sz="135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5~10억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040880" y="37856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 확장 · 지표 증명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766560" y="4160520"/>
            <a:ext cx="146304" cy="146304"/>
          </a:xfrm>
          <a:prstGeom prst="ellipse">
            <a:avLst/>
          </a:prstGeom>
          <a:solidFill>
            <a:srgbClr val="C19A3D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0" y="40599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Series A  </a:t>
            </a:r>
            <a:pPr indent="0" marL="0">
              <a:buNone/>
            </a:pPr>
            <a:r>
              <a:rPr lang="en-US" sz="135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20~30억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040880" y="43342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전국 스케일업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766560" y="4709160"/>
            <a:ext cx="146304" cy="146304"/>
          </a:xfrm>
          <a:prstGeom prst="ellipse">
            <a:avLst/>
          </a:prstGeom>
          <a:solidFill>
            <a:srgbClr val="C19A3D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0" y="46085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Scale-up (TIPS)  </a:t>
            </a:r>
            <a:pPr indent="0" marL="0">
              <a:buNone/>
            </a:pPr>
            <a:r>
              <a:rPr lang="en-US" sz="135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20~30억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040880" y="48828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버티컬 확장 · 흑자 가속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766560" y="5230368"/>
            <a:ext cx="4572000" cy="0"/>
          </a:xfrm>
          <a:prstGeom prst="line">
            <a:avLst/>
          </a:prstGeom>
          <a:noFill/>
          <a:ln w="12700">
            <a:solidFill>
              <a:srgbClr val="E2E5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40880" y="5321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출구  </a:t>
            </a:r>
            <a:pPr indent="0" marL="0">
              <a:buNone/>
            </a:pPr>
            <a:r>
              <a:rPr lang="en-US" sz="13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코스닥 IPO 2031~2033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ESG &amp; EXECUTION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세대 융합과 ESG를 성장 지표로 내재화한다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사회적 가치를 부가 활동이 아닌 핵심 지표로 운영한다. 진입 조건은 명확히 정의돼 있다.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3대 차별화 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5486400" cy="91440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2734056"/>
            <a:ext cx="566928" cy="566928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8" name="Image 0" descr="/home/claude/assets/peo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875788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7249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베이비부머 특화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45920" y="303580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954만 공급 풀에 최적화된 매칭 설계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602736"/>
            <a:ext cx="5486400" cy="91440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12" name="Shape 9"/>
          <p:cNvSpPr/>
          <p:nvPr/>
        </p:nvSpPr>
        <p:spPr>
          <a:xfrm>
            <a:off x="859536" y="3776472"/>
            <a:ext cx="566928" cy="566928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3" name="Image 1" descr="/home/claude/assets/l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" y="3918204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37673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ESG 내재화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645920" y="40782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시니어 경제활동 참여를 지표로 측정·보고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645152"/>
            <a:ext cx="5486400" cy="91440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17" name="Shape 13"/>
          <p:cNvSpPr/>
          <p:nvPr/>
        </p:nvSpPr>
        <p:spPr>
          <a:xfrm>
            <a:off x="859536" y="4818888"/>
            <a:ext cx="566928" cy="566928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8" name="Image 2" descr="/home/claude/assets/l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4960620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48097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세대 융합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645920" y="51206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청년 운영 + 시니어 숙련의 결합 모델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355080" y="2148840"/>
            <a:ext cx="5257800" cy="3584448"/>
          </a:xfrm>
          <a:prstGeom prst="rect">
            <a:avLst/>
          </a:prstGeom>
          <a:solidFill>
            <a:srgbClr val="1B2A55"/>
          </a:solidFill>
          <a:ln/>
          <a:effectLst>
            <a:outerShdw sx="100000" sy="100000" kx="0" ky="0" algn="bl" rotWithShape="0" blurRad="114300" dist="38100" dir="8100000">
              <a:srgbClr val="1B2A55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667512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3대 진입 조건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675120" y="2971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M1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7635240" y="29900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법인 설립 + 법무 자문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7635240" y="3319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사업 운영의 법적 토대 확보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6675120" y="3840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M1</a:t>
            </a:r>
            <a:endParaRPr lang="en-US" sz="2600" dirty="0"/>
          </a:p>
        </p:txBody>
      </p:sp>
      <p:sp>
        <p:nvSpPr>
          <p:cNvPr id="27" name="Text 22"/>
          <p:cNvSpPr/>
          <p:nvPr/>
        </p:nvSpPr>
        <p:spPr>
          <a:xfrm>
            <a:off x="7635240" y="38587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CTO 공동창업자 합류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7635240" y="4187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MVP 개발 실행력 확보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6675120" y="4709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M2</a:t>
            </a:r>
            <a:endParaRPr lang="en-US" sz="2600" dirty="0"/>
          </a:p>
        </p:txBody>
      </p:sp>
      <p:sp>
        <p:nvSpPr>
          <p:cNvPr id="30" name="Text 25"/>
          <p:cNvSpPr/>
          <p:nvPr/>
        </p:nvSpPr>
        <p:spPr>
          <a:xfrm>
            <a:off x="7635240" y="47274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Pre-Seed 5억 확보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7635240" y="5056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 18개월 런웨이 확보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548640" y="5870448"/>
            <a:ext cx="11064240" cy="512064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33" name="Shape 28"/>
          <p:cNvSpPr/>
          <p:nvPr/>
        </p:nvSpPr>
        <p:spPr>
          <a:xfrm>
            <a:off x="548640" y="5870448"/>
            <a:ext cx="73152" cy="512064"/>
          </a:xfrm>
          <a:prstGeom prst="rect">
            <a:avLst/>
          </a:prstGeom>
          <a:solidFill>
            <a:srgbClr val="C19A3D"/>
          </a:solidFill>
          <a:ln/>
        </p:spPr>
      </p:sp>
      <p:sp>
        <p:nvSpPr>
          <p:cNvPr id="34" name="Text 29"/>
          <p:cNvSpPr/>
          <p:nvPr/>
        </p:nvSpPr>
        <p:spPr>
          <a:xfrm>
            <a:off x="868680" y="587044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FOUNDER-MARKET FIT   </a:t>
            </a:r>
            <a:pPr indent="0" marL="0">
              <a:buNone/>
            </a:pPr>
            <a:r>
              <a:rPr lang="en-US" sz="11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건설현장+스타트업 20년 · VC/TIPS 네트워크·사업개발 · MBA 박사과정 · 인도네시아 시장 전문 — 공급·자본·실행을 한 사람이 잇는다.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19A3D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THE ASK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41248" y="13716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거대 세대의 '일'과 '전문성'을 선점할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Seed 파트너를 찾습니다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3063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Seed 20억 원으로 3채널(원포인·스팟워크·스카웃) 동시 가동, 워커·전문가 1만 명 선점, M14 BEP를 증명하고 Series A 직행합니다.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4023360"/>
            <a:ext cx="3520440" cy="1600200"/>
          </a:xfrm>
          <a:prstGeom prst="rect">
            <a:avLst/>
          </a:prstGeom>
          <a:solidFill>
            <a:srgbClr val="2A3D6E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4297680"/>
            <a:ext cx="548640" cy="54864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8" name="Image 0" descr="/home/claude/assets/see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44348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Seed 20억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143000" y="52852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14개월 런웨이 · 3채널 가동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0" y="4023360"/>
            <a:ext cx="3520440" cy="1600200"/>
          </a:xfrm>
          <a:prstGeom prst="rect">
            <a:avLst/>
          </a:prstGeom>
          <a:solidFill>
            <a:srgbClr val="2A3D6E"/>
          </a:solidFill>
          <a:ln/>
        </p:spPr>
      </p:sp>
      <p:sp>
        <p:nvSpPr>
          <p:cNvPr id="12" name="Shape 9"/>
          <p:cNvSpPr/>
          <p:nvPr/>
        </p:nvSpPr>
        <p:spPr>
          <a:xfrm>
            <a:off x="4846320" y="4297680"/>
            <a:ext cx="548640" cy="54864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3" name="Image 1" descr="/home/claude/assets/user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44348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워커·전문가 10,000명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846320" y="52852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공공·케어 네트워크 기반 선점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75320" y="4023360"/>
            <a:ext cx="3520440" cy="1600200"/>
          </a:xfrm>
          <a:prstGeom prst="rect">
            <a:avLst/>
          </a:prstGeom>
          <a:solidFill>
            <a:srgbClr val="2A3D6E"/>
          </a:solidFill>
          <a:ln/>
        </p:spPr>
      </p:sp>
      <p:sp>
        <p:nvSpPr>
          <p:cNvPr id="17" name="Shape 13"/>
          <p:cNvSpPr/>
          <p:nvPr/>
        </p:nvSpPr>
        <p:spPr>
          <a:xfrm>
            <a:off x="8549640" y="4297680"/>
            <a:ext cx="548640" cy="54864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8" name="Image 2" descr="/home/claude/assets/rocke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44348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4964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Series A 60억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549640" y="52852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M14 BEP 후 Scale-up 조달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41248" y="6126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486400" y="614476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C8D2E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954만 명의 전문성, 가장 먼저 거래하는 곳이 시장을 갖는다.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APPENDIX A · MARKET SIZING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SOM은 5,000 워커 시나리오에서 도출된다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Bottom-up 방식. 활성 워커 수 × 월 매칭 빈도 × 평균 GMV × 수수료율로 연간 매출을 적층한다.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697480" cy="155448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23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활성 워커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5,000명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 네트워크 선점 기준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36392" y="2240280"/>
            <a:ext cx="4023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93008" y="2240280"/>
            <a:ext cx="2697480" cy="155448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2423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 매칭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93008" y="2697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4회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493008" y="3291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워커 1인 평균(보수적)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80760" y="2240280"/>
            <a:ext cx="4023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×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37376" y="2240280"/>
            <a:ext cx="2697480" cy="155448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16" name="Text 14"/>
          <p:cNvSpPr/>
          <p:nvPr/>
        </p:nvSpPr>
        <p:spPr>
          <a:xfrm>
            <a:off x="6437376" y="2423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평균 GMV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37376" y="2697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9만 원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437376" y="3291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4~8시간 현장 일당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025128" y="2240280"/>
            <a:ext cx="4023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×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381744" y="2240280"/>
            <a:ext cx="2697480" cy="155448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21" name="Text 19"/>
          <p:cNvSpPr/>
          <p:nvPr/>
        </p:nvSpPr>
        <p:spPr>
          <a:xfrm>
            <a:off x="9381744" y="2423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수수료율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381744" y="26974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18%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381744" y="3291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GMV 연동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11064240" cy="1005840"/>
          </a:xfrm>
          <a:prstGeom prst="rect">
            <a:avLst/>
          </a:prstGeom>
          <a:solidFill>
            <a:srgbClr val="1B2A55"/>
          </a:solidFill>
          <a:ln/>
          <a:effectLst>
            <a:outerShdw sx="100000" sy="100000" kx="0" ky="0" algn="bl" rotWithShape="0" blurRad="114300" dist="38100" dir="8100000">
              <a:srgbClr val="1B2A55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4315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연환산 매출 (SOM 하단)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5,000 × 4 × 9만 × 18% × 12개월  ≈  39억 원 / 년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워커 확장(2~3만) · 매칭 빈도 상승 · 스카웃 고단가 수수료 적층 시 SOM 300~500억 도달. 모든 수치는 보수적 초기 가정.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APPENDIX B · FINANCIAL ASSUMPTIONS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월수익 궤적을 떠받치는 핵심 가정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재무 모델은 세 가지 변수 위에 선다. Q&amp;A에서 가장 자주 검증되는 지점이다.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200400" cy="502920"/>
          </a:xfrm>
          <a:prstGeom prst="rect">
            <a:avLst/>
          </a:prstGeom>
          <a:solidFill>
            <a:srgbClr val="1B2A55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19456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49040" y="2194560"/>
            <a:ext cx="2103120" cy="502920"/>
          </a:xfrm>
          <a:prstGeom prst="rect">
            <a:avLst/>
          </a:prstGeom>
          <a:solidFill>
            <a:srgbClr val="1B2A55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58768" y="219456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M5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52160" y="2194560"/>
            <a:ext cx="2103120" cy="502920"/>
          </a:xfrm>
          <a:prstGeom prst="rect">
            <a:avLst/>
          </a:prstGeom>
          <a:solidFill>
            <a:srgbClr val="1B2A55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61888" y="219456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M11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2194560"/>
            <a:ext cx="2103120" cy="502920"/>
          </a:xfrm>
          <a:prstGeom prst="rect">
            <a:avLst/>
          </a:prstGeom>
          <a:solidFill>
            <a:srgbClr val="1B2A55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65008" y="219456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M18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3200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69748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활성 워커 (명)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749040" y="2697480"/>
            <a:ext cx="2103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8768" y="269748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800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52160" y="2697480"/>
            <a:ext cx="2103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269748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3,000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5280" y="2697480"/>
            <a:ext cx="2103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65008" y="269748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8,000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200400"/>
            <a:ext cx="3200400" cy="502920"/>
          </a:xfrm>
          <a:prstGeom prst="rect">
            <a:avLst/>
          </a:prstGeom>
          <a:solidFill>
            <a:srgbClr val="F4F5F8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20040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 매칭 (건)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749040" y="3200400"/>
            <a:ext cx="2103120" cy="502920"/>
          </a:xfrm>
          <a:prstGeom prst="rect">
            <a:avLst/>
          </a:prstGeom>
          <a:solidFill>
            <a:srgbClr val="F4F5F8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58768" y="320040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3,200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852160" y="3200400"/>
            <a:ext cx="2103120" cy="502920"/>
          </a:xfrm>
          <a:prstGeom prst="rect">
            <a:avLst/>
          </a:prstGeom>
          <a:solidFill>
            <a:srgbClr val="F4F5F8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61888" y="320040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12,000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955280" y="3200400"/>
            <a:ext cx="2103120" cy="502920"/>
          </a:xfrm>
          <a:prstGeom prst="rect">
            <a:avLst/>
          </a:prstGeom>
          <a:solidFill>
            <a:srgbClr val="F4F5F8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65008" y="320040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32,000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3703320"/>
            <a:ext cx="3200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70332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 GMV (백만 원)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749040" y="3703320"/>
            <a:ext cx="2103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58768" y="370332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29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852160" y="3703320"/>
            <a:ext cx="2103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61888" y="370332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108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955280" y="3703320"/>
            <a:ext cx="2103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65008" y="370332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288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4206240"/>
            <a:ext cx="3200400" cy="502920"/>
          </a:xfrm>
          <a:prstGeom prst="rect">
            <a:avLst/>
          </a:prstGeom>
          <a:solidFill>
            <a:srgbClr val="F4F5F8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420624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수수료 수익 (백만 원)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749040" y="4206240"/>
            <a:ext cx="2103120" cy="502920"/>
          </a:xfrm>
          <a:prstGeom prst="rect">
            <a:avLst/>
          </a:prstGeom>
          <a:solidFill>
            <a:srgbClr val="F4F5F8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58768" y="420624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5.2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852160" y="4206240"/>
            <a:ext cx="2103120" cy="502920"/>
          </a:xfrm>
          <a:prstGeom prst="rect">
            <a:avLst/>
          </a:prstGeom>
          <a:solidFill>
            <a:srgbClr val="F4F5F8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61888" y="420624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19.4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7955280" y="4206240"/>
            <a:ext cx="2103120" cy="502920"/>
          </a:xfrm>
          <a:prstGeom prst="rect">
            <a:avLst/>
          </a:prstGeom>
          <a:solidFill>
            <a:srgbClr val="F4F5F8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65008" y="420624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51.8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48640" y="4709160"/>
            <a:ext cx="3200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" y="470916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 손익 (백만 원)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3749040" y="4709160"/>
            <a:ext cx="2103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58768" y="470916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+4.6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5852160" y="4709160"/>
            <a:ext cx="2103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61888" y="470916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BEP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7955280" y="4709160"/>
            <a:ext cx="2103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65008" y="470916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19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+144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48640" y="5440680"/>
            <a:ext cx="3630168" cy="96012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54" name="Shape 52"/>
          <p:cNvSpPr/>
          <p:nvPr/>
        </p:nvSpPr>
        <p:spPr>
          <a:xfrm>
            <a:off x="548640" y="5440680"/>
            <a:ext cx="64008" cy="960120"/>
          </a:xfrm>
          <a:prstGeom prst="rect">
            <a:avLst/>
          </a:prstGeom>
          <a:solidFill>
            <a:srgbClr val="C19A3D"/>
          </a:solidFill>
          <a:ln/>
        </p:spPr>
      </p:sp>
      <p:sp>
        <p:nvSpPr>
          <p:cNvPr id="55" name="Text 53"/>
          <p:cNvSpPr/>
          <p:nvPr/>
        </p:nvSpPr>
        <p:spPr>
          <a:xfrm>
            <a:off x="777240" y="557784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 워커 활성률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777240" y="5888736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신규 가입 워커 중 월 1회 이상 매칭 비율. 60% 이상 유지 가정.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361688" y="5440680"/>
            <a:ext cx="3630168" cy="96012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58" name="Shape 56"/>
          <p:cNvSpPr/>
          <p:nvPr/>
        </p:nvSpPr>
        <p:spPr>
          <a:xfrm>
            <a:off x="4361688" y="5440680"/>
            <a:ext cx="64008" cy="960120"/>
          </a:xfrm>
          <a:prstGeom prst="rect">
            <a:avLst/>
          </a:prstGeom>
          <a:solidFill>
            <a:srgbClr val="C19A3D"/>
          </a:solidFill>
          <a:ln/>
        </p:spPr>
      </p:sp>
      <p:sp>
        <p:nvSpPr>
          <p:cNvPr id="59" name="Text 57"/>
          <p:cNvSpPr/>
          <p:nvPr/>
        </p:nvSpPr>
        <p:spPr>
          <a:xfrm>
            <a:off x="4590288" y="557784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 매칭 빈도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4590288" y="5888736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활성 워커 1인 월 4회. 현장 파트너 밀도가 핵심 제약.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174736" y="5440680"/>
            <a:ext cx="3630168" cy="960120"/>
          </a:xfrm>
          <a:prstGeom prst="rect">
            <a:avLst/>
          </a:prstGeom>
          <a:solidFill>
            <a:srgbClr val="F4F5F8"/>
          </a:solidFill>
          <a:ln/>
        </p:spPr>
      </p:sp>
      <p:sp>
        <p:nvSpPr>
          <p:cNvPr id="62" name="Shape 60"/>
          <p:cNvSpPr/>
          <p:nvPr/>
        </p:nvSpPr>
        <p:spPr>
          <a:xfrm>
            <a:off x="8174736" y="5440680"/>
            <a:ext cx="64008" cy="960120"/>
          </a:xfrm>
          <a:prstGeom prst="rect">
            <a:avLst/>
          </a:prstGeom>
          <a:solidFill>
            <a:srgbClr val="C19A3D"/>
          </a:solidFill>
          <a:ln/>
        </p:spPr>
      </p:sp>
      <p:sp>
        <p:nvSpPr>
          <p:cNvPr id="63" name="Text 61"/>
          <p:cNvSpPr/>
          <p:nvPr/>
        </p:nvSpPr>
        <p:spPr>
          <a:xfrm>
            <a:off x="8403336" y="557784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 스카웃 전환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8403336" y="5888736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355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M12부터 고단가 채용 수수료 적층. LTV 상향의 핵심 레버.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4864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VELOR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100297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VELOR Seed IR</dc:title>
  <dc:subject>PptxGenJS Presentation</dc:subject>
  <dc:creator>VELOR</dc:creator>
  <cp:lastModifiedBy>VELOR</cp:lastModifiedBy>
  <cp:revision>1</cp:revision>
  <dcterms:created xsi:type="dcterms:W3CDTF">2026-05-30T14:27:51Z</dcterms:created>
  <dcterms:modified xsi:type="dcterms:W3CDTF">2026-05-30T14:27:51Z</dcterms:modified>
</cp:coreProperties>
</file>